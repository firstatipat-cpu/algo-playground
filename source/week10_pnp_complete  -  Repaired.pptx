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14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heme/theme1.xml" ContentType="application/vnd.openxmlformats-officedocument.theme+xml"/>
  <Override PartName="/ppt/webextensions/taskpanes.xml" ContentType="application/vnd.ms-office.webextensiontaskpanes+xml"/>
  <Override PartName="/ppt/notesMasters/notesMaster1.xml" ContentType="application/vnd.openxmlformats-officedocument.presentationml.notesMaster+xml"/>
  <Override PartName="/ppt/webextensions/webextension1.xml" ContentType="application/vnd.ms-office.webextension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52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503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12188952" cy="36576"/>
          </a:xfrm>
          <a:prstGeom prst="rect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P, NP, and NP-Complete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254383 Algorithm Design and Analysis — Week 10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2743200" cy="36576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h-TH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th-TH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พิเศษพงศ์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สุธาพันธ์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ภาควิชาวิทยาการคอมพิวเตอร์และเทคโนโลยีสารสนเทศ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วัตถุประสงค์การเรียนรู้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332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5" name="Shape 3"/>
          <p:cNvSpPr/>
          <p:nvPr/>
        </p:nvSpPr>
        <p:spPr>
          <a:xfrm>
            <a:off x="1051560" y="17830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105156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11680" y="17830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อธิบายนิยามของ Class P, NP, NP-Complete, และ NP-Hard ได้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0332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9" name="Shape 7"/>
          <p:cNvSpPr/>
          <p:nvPr/>
        </p:nvSpPr>
        <p:spPr>
          <a:xfrm>
            <a:off x="1051560" y="28803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0" name="Text 8"/>
          <p:cNvSpPr/>
          <p:nvPr/>
        </p:nvSpPr>
        <p:spPr>
          <a:xfrm>
            <a:off x="105156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11680" y="28803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จำแนกปัญหาว่าอยู่ใน Class ใด พร้อมให้เหตุผล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10332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3" name="Shape 11"/>
          <p:cNvSpPr/>
          <p:nvPr/>
        </p:nvSpPr>
        <p:spPr>
          <a:xfrm>
            <a:off x="1051560" y="39776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105156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11680" y="397764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อธิบายแนวคิด Polynomial Reduction และนำไปใช้พิสูจน์ NP-Completeness ได้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4937760"/>
            <a:ext cx="10332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7" name="Shape 15"/>
          <p:cNvSpPr/>
          <p:nvPr/>
        </p:nvSpPr>
        <p:spPr>
          <a:xfrm>
            <a:off x="1051560" y="50749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8" name="Text 16"/>
          <p:cNvSpPr/>
          <p:nvPr/>
        </p:nvSpPr>
        <p:spPr>
          <a:xfrm>
            <a:off x="1051560" y="5074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011680" y="50749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ยกตัวอย่างปัญหา NP-Complete ที่สำคัญได้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เนื้อหาในวันนี้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691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พื้นฐาน: Polynomial &amp; Polynomial Time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86868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2880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 — ปัญหาที่แก้ได้เร็ว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3291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solvable fast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5" name="Shape 13"/>
          <p:cNvSpPr/>
          <p:nvPr/>
        </p:nvSpPr>
        <p:spPr>
          <a:xfrm>
            <a:off x="868680" y="41148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868680" y="4114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NP — ปัญหาที่ตรวจสอบได้เร็ว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4480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verifiable fast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512064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0" name="Shape 18"/>
          <p:cNvSpPr/>
          <p:nvPr/>
        </p:nvSpPr>
        <p:spPr>
          <a:xfrm>
            <a:off x="868680" y="53035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/>
          <p:nvPr/>
        </p:nvSpPr>
        <p:spPr>
          <a:xfrm>
            <a:off x="868680" y="5303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5257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Tractability — แก้ได้จริง vs แก้ไม่ได้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45920" y="5669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Tractable vs Intractable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55448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5" name="Shape 23"/>
          <p:cNvSpPr/>
          <p:nvPr/>
        </p:nvSpPr>
        <p:spPr>
          <a:xfrm>
            <a:off x="6537960" y="173736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3A6EA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" name="Text 24"/>
          <p:cNvSpPr/>
          <p:nvPr/>
        </p:nvSpPr>
        <p:spPr>
          <a:xfrm>
            <a:off x="653796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0" y="1691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NP-Complete — ปัญหาที่ยากที่สุดใน NP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15200" y="2103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in NP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274320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30" name="Shape 28"/>
          <p:cNvSpPr/>
          <p:nvPr/>
        </p:nvSpPr>
        <p:spPr>
          <a:xfrm>
            <a:off x="6537960" y="29260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3A6EA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1" name="Text 29"/>
          <p:cNvSpPr/>
          <p:nvPr/>
        </p:nvSpPr>
        <p:spPr>
          <a:xfrm>
            <a:off x="653796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15200" y="2880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NP-Hard — ยากกว่า NP-Complete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315200" y="3291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NP-Complete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39319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35" name="Shape 33"/>
          <p:cNvSpPr/>
          <p:nvPr/>
        </p:nvSpPr>
        <p:spPr>
          <a:xfrm>
            <a:off x="6537960" y="41148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3A6EA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6" name="Text 34"/>
          <p:cNvSpPr/>
          <p:nvPr/>
        </p:nvSpPr>
        <p:spPr>
          <a:xfrm>
            <a:off x="6537960" y="4114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31520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SAT, CLIQUE, HAMPATH และอื่นๆ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315200" y="4480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examples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512064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40" name="Shape 38"/>
          <p:cNvSpPr/>
          <p:nvPr/>
        </p:nvSpPr>
        <p:spPr>
          <a:xfrm>
            <a:off x="6537960" y="53035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3A6EA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1" name="Text 39"/>
          <p:cNvSpPr/>
          <p:nvPr/>
        </p:nvSpPr>
        <p:spPr>
          <a:xfrm>
            <a:off x="6537960" y="5303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315200" y="5257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vs NP — คำถามล้านดอลลาร์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315200" y="5669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million-dollar question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Polynomial คืออะไร?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9728" cy="1371600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นิยาม: นิพจน์ที่สร้างจากตัวแปรและค่าคงที่ โดยใช้ +, −, × และยกกำลังด้วยจำนวนเต็มไม่ติดลบ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 Polynomial: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474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x² − 4x + 7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931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3x³ + 2x − 1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4389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5n⁴ + n² + 3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ไม่ใช่ Polynomial: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0" y="3474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2ˣ (เลขชี้กำลังเป็นตัวแปร)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3931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1/x (มีการหาร)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4389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log x (ไม่ใช่รูปพหุนาม)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502920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9728" cy="822960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1097280" y="5074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ข้อสังเกต: ไม่มีตัวแปรในเลขชี้กำลัง, ไม่มีการหาร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Polynomial Time คืออะไร?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9728" cy="1097280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นิยาม: Running time ที่อยู่ในรูป O(nᵏ) เมื่อ n = ขนาด input, k = ค่าคงที่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5029200" cy="256032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Polynomial Time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3657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Constant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3977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— Logarithmic*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297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Linear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46177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— Linearithmic*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49377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— Quadratic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5257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O(n³) — Cubic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3108960"/>
            <a:ext cx="5029200" cy="2560320"/>
          </a:xfrm>
          <a:prstGeom prst="roundRect">
            <a:avLst>
              <a:gd name="adj" fmla="val 3571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658368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ไม่ใช่ Polynomial Time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3657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O(2ⁿ) — Exponential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3977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O(nⁿ)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4297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O(n!) — Factorial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5760720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/>
          <p:nvPr/>
        </p:nvSpPr>
        <p:spPr>
          <a:xfrm>
            <a:off x="1005840" y="57607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หมายเหตุ: O(log n) และ O(n log n) ทำงานเร็วกว่า polynomial แต่ log n ไม่ใช่ polynomial function — จัดอยู่ใน polynomial time class เพราะ log n ≤ n สำหรับ n ≥ 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Problems (ปัญหาการตัดสินใจ)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698480" cy="1188720"/>
          </a:xfrm>
          <a:prstGeom prst="roundRect">
            <a:avLst>
              <a:gd name="adj" fmla="val 7692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9728" cy="1188720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นิยาม: ปัญหาที่คำตอบมีเพียง "ใช่" (Yes) หรือ "ไม่ใช่" (No)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 Decision Problem? → เป็นพื้นฐานของทฤษฎี Complexity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Decision Problem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33832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"มีเส้นทางจาก A ไป B หรือไม่?"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840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"กราฟ G มี clique ขนาด k หรือไม่?"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297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"สูตร Boolean นี้ satisfiable หรือไม่?"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274320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ไม่ใช่ Decision Problem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0" y="33832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"เส้นทางที่สั้นที่สุดจาก A ไป B คืออะไร?"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0" y="3840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"Clique ที่ใหญ่ที่สุดในกราฟคืออะไร?"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4480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เป็น Optimization Problem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P: นิยาม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0698480" cy="2011680"/>
          </a:xfrm>
          <a:prstGeom prst="roundRect">
            <a:avLst>
              <a:gd name="adj" fmla="val 5455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37160" cy="2011680"/>
          </a:xfrm>
          <a:prstGeom prst="rect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118872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2C4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377440" y="1463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 = กลุ่มของ Decision Problems ที่แก้ไขได้ด้วย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Algorithm ใน Polynomial Time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O(nᵏ) สำหรับค่าคงที่ 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3657600"/>
            <a:ext cx="7589520" cy="1097280"/>
          </a:xfrm>
          <a:prstGeom prst="roundRect">
            <a:avLst>
              <a:gd name="adj" fmla="val 8333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9" name="Text 7"/>
          <p:cNvSpPr/>
          <p:nvPr/>
        </p:nvSpPr>
        <p:spPr>
          <a:xfrm>
            <a:off x="246888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017520" y="37490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ความหมายง่ายๆ: "ปัญหาที่เรามีวิธีแก้ที่เร็ว"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17520" y="42062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เราสามารถหาคำตอบ (Yes/No) ได้อย่างมีประสิทธิภาพ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ตัวอย่างปัญหาใน Class P: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Sorting   • Searching   • Shortest Path   • MST   • PATH Problem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P: ตัวอย่าง — PATH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9728" cy="2286000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Problem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กราฟ G, โหนด a และ b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มีเส้นทางจาก a ไป b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ในกราฟ G หรือไม่?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0" y="1188720"/>
            <a:ext cx="4846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676656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ตัวอย่างกราฟ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14032" y="1810512"/>
            <a:ext cx="402336" cy="402336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0" name="Text 8"/>
          <p:cNvSpPr/>
          <p:nvPr/>
        </p:nvSpPr>
        <p:spPr>
          <a:xfrm>
            <a:off x="7114032" y="1810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85632" y="1536192"/>
            <a:ext cx="402336" cy="402336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8485632" y="1536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57232" y="1810512"/>
            <a:ext cx="402336" cy="402336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9857232" y="1810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71232" y="2907792"/>
            <a:ext cx="402336" cy="402336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7571232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42832" y="3090672"/>
            <a:ext cx="402336" cy="402336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8" name="Text 16"/>
          <p:cNvSpPr/>
          <p:nvPr/>
        </p:nvSpPr>
        <p:spPr>
          <a:xfrm>
            <a:off x="8942832" y="3090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314432" y="2907792"/>
            <a:ext cx="402336" cy="402336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" name="Text 18"/>
          <p:cNvSpPr/>
          <p:nvPr/>
        </p:nvSpPr>
        <p:spPr>
          <a:xfrm>
            <a:off x="10314432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0" y="2011680"/>
            <a:ext cx="137160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Shape 20"/>
          <p:cNvSpPr/>
          <p:nvPr/>
        </p:nvSpPr>
        <p:spPr>
          <a:xfrm>
            <a:off x="8686800" y="1737360"/>
            <a:ext cx="1371600" cy="27432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3" name="Shape 21"/>
          <p:cNvSpPr/>
          <p:nvPr/>
        </p:nvSpPr>
        <p:spPr>
          <a:xfrm>
            <a:off x="7315200" y="2011680"/>
            <a:ext cx="457200" cy="109728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4" name="Shape 22"/>
          <p:cNvSpPr/>
          <p:nvPr/>
        </p:nvSpPr>
        <p:spPr>
          <a:xfrm>
            <a:off x="7772400" y="3108960"/>
            <a:ext cx="1371600" cy="18288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5" name="Shape 23"/>
          <p:cNvSpPr/>
          <p:nvPr/>
        </p:nvSpPr>
        <p:spPr>
          <a:xfrm>
            <a:off x="9144000" y="3291840"/>
            <a:ext cx="137160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6" name="Shape 24"/>
          <p:cNvSpPr/>
          <p:nvPr/>
        </p:nvSpPr>
        <p:spPr>
          <a:xfrm>
            <a:off x="8686800" y="1737360"/>
            <a:ext cx="457200" cy="155448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7" name="Shape 25"/>
          <p:cNvSpPr/>
          <p:nvPr/>
        </p:nvSpPr>
        <p:spPr>
          <a:xfrm>
            <a:off x="7315200" y="2011680"/>
            <a:ext cx="1371600" cy="0"/>
          </a:xfrm>
          <a:prstGeom prst="line">
            <a:avLst/>
          </a:prstGeom>
          <a:noFill/>
          <a:ln w="38100">
            <a:solidFill>
              <a:srgbClr val="28A745"/>
            </a:solidFill>
            <a:prstDash val="dash"/>
          </a:ln>
        </p:spPr>
        <p:txBody>
          <a:bodyPr/>
          <a:lstStyle/>
          <a:p>
            <a:endParaRPr lang="th-TH"/>
          </a:p>
        </p:txBody>
      </p:sp>
      <p:sp>
        <p:nvSpPr>
          <p:cNvPr id="28" name="Shape 26"/>
          <p:cNvSpPr/>
          <p:nvPr/>
        </p:nvSpPr>
        <p:spPr>
          <a:xfrm>
            <a:off x="8686800" y="1737360"/>
            <a:ext cx="457200" cy="1554480"/>
          </a:xfrm>
          <a:prstGeom prst="line">
            <a:avLst/>
          </a:prstGeom>
          <a:noFill/>
          <a:ln w="38100">
            <a:solidFill>
              <a:srgbClr val="28A745"/>
            </a:solidFill>
            <a:prstDash val="dash"/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 27"/>
          <p:cNvSpPr/>
          <p:nvPr/>
        </p:nvSpPr>
        <p:spPr>
          <a:xfrm>
            <a:off x="9144000" y="3291840"/>
            <a:ext cx="1371600" cy="0"/>
          </a:xfrm>
          <a:prstGeom prst="line">
            <a:avLst/>
          </a:prstGeom>
          <a:noFill/>
          <a:ln w="38100">
            <a:solidFill>
              <a:srgbClr val="28A745"/>
            </a:solidFill>
            <a:prstDash val="dash"/>
          </a:ln>
        </p:spPr>
        <p:txBody>
          <a:bodyPr/>
          <a:lstStyle/>
          <a:p>
            <a:endParaRPr lang="th-TH"/>
          </a:p>
        </p:txBody>
      </p:sp>
      <p:sp>
        <p:nvSpPr>
          <p:cNvPr id="30" name="Text 28"/>
          <p:cNvSpPr/>
          <p:nvPr/>
        </p:nvSpPr>
        <p:spPr>
          <a:xfrm>
            <a:off x="6858000" y="3931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A → B → E → F  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" y="38404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2" name="Text 30"/>
          <p:cNvSpPr/>
          <p:nvPr/>
        </p:nvSpPr>
        <p:spPr>
          <a:xfrm>
            <a:off x="914400" y="3931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97280" y="43891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BFS หรือ DFS → ทำงานใน O(V + E)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อยู่ใน Class P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7280" y="50292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หมายเหตุ: ไม่ใช้ Dijkstra เพราะเป็น shortest path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(optimization) ไม่ใช่ decision problem ของ PATH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NP: นิยาม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0698480" cy="2194560"/>
          </a:xfrm>
          <a:prstGeom prst="roundRect">
            <a:avLst>
              <a:gd name="adj" fmla="val 5000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37160" cy="2194560"/>
          </a:xfrm>
          <a:prstGeom prst="rect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1188720" y="13716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2C4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3017520" y="1463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NP = กลุ่มของ Decision Problems ที่สามารถ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 (Verify) คำตอบได้ใน Polynomial Time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17520" y="2377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 = Nondeterministic Polynomial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อีกมุมมอง: แก้ได้ด้วย Nondeterministic Polynomial Algorithm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0" y="3840480"/>
            <a:ext cx="7589520" cy="1097280"/>
          </a:xfrm>
          <a:prstGeom prst="roundRect">
            <a:avLst>
              <a:gd name="adj" fmla="val 8333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9" name="Text 7"/>
          <p:cNvSpPr/>
          <p:nvPr/>
        </p:nvSpPr>
        <p:spPr>
          <a:xfrm>
            <a:off x="246888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017520" y="39319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ความหมายง่ายๆ: "ปัญหาที่ถ้ามีคนบอกคำตอบ เราตรวจสอบได้เร็ว"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17520" y="44348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หาคำตอบอาจยาก แต่ตรวจสอบคำตอบที่ให้มาได้เร็ว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สำคัญ: NP ≠ "Not Polynomial" — NP หมายถึง Nondeterministic Polynomial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NP: Nondeterministic Algorithm (2 ขั้นตอน)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1097280" y="15544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ขั้นตอนที่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Stage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"เดา" คำตอบ (Nondeterministic)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เลือกคำตอบหนึ่งมาอย่างไม่จำกัด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เหมือนมี oracle ที่บอกคำตอบให้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ยังไม่รู้ว่าถูกหรือผิด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7784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6400800" y="137160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0" name="Shape 8"/>
          <p:cNvSpPr/>
          <p:nvPr/>
        </p:nvSpPr>
        <p:spPr>
          <a:xfrm>
            <a:off x="6766560" y="15544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28A74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6766560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ขั้นตอนที่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Stage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6560" y="237744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"ตรวจสอบ" ว่าคำตอบถูกหรือไม่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(Deterministic, Polynomial Time)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ต้องทำงานเสร็จใน O(nᵏ)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ตรวจสอบได้ว่าใช่ (Yes) หรือไม่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71600" y="5029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C8D8E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1371600" y="5029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50292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749040" y="5029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8" name="Text 16"/>
          <p:cNvSpPr/>
          <p:nvPr/>
        </p:nvSpPr>
        <p:spPr>
          <a:xfrm>
            <a:off x="3749040" y="5029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50292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126480" y="5029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28A74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/>
          <p:nvPr/>
        </p:nvSpPr>
        <p:spPr>
          <a:xfrm>
            <a:off x="6126480" y="5029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55280" y="50292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503920" y="50292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E6A81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" name="Text 22"/>
          <p:cNvSpPr/>
          <p:nvPr/>
        </p:nvSpPr>
        <p:spPr>
          <a:xfrm>
            <a:off x="8503920" y="5029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NP: ตัวอย่าง — SAT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9728" cy="2286000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(Boolean Satisfiability)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= { f | f is a Boolean formula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satisfying assignment }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สูตร Boolean ในรูป CNF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มีการกำหนดค่าตัวแปร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ที่ทำให้สูตรเป็น True หรือไม่?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118872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658368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 CNF Formula: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C4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∧ (x ∨ y ∨ z̄) ∧ (x̄ ∨ ȳ)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66560" y="21945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ลอง x=T, y=F, z=F: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Clause 1: x = T  ✓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Clause 2: x ∨ y ∨ z̄ = T ∨ F ∨ T = T  ✓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Clause 3: x̄ ∨ ȳ = F ∨ T = T  ✓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Satisfiable!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914400" y="3931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การหาคำตอบ (Finding)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97280" y="43891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ต้องลองทุกชุดค่า → O(2ⁿ)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ช้ามาก! (Exponential)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5120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ตัวแปร → 2ⁿ ชุดค่าที่เป็นไปได้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84048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658368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การตรวจสอบ (Verifying)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766560" y="43891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แทนค่าแล้วเช็คทีละ clause → O(n)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เร็ว! → อยู่ใน NP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66560" y="5120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ได้ certificate มา → ตรวจได้ทันที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ความสัมพันธ์: P ⊆ NP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6400800" cy="1828800"/>
          </a:xfrm>
          <a:prstGeom prst="roundRect">
            <a:avLst>
              <a:gd name="adj" fmla="val 5000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9728" cy="1828800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ทุกปัญหาใน P ก็อยู่ใน NP ด้วย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เหตุผล: ถ้าแก้ปัญหาได้เร็ว ก็ตรวจสอบคำตอบได้เร็ว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เช่นกัน (แค่แก้ใหม่แล้วเทียบ)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8" name="Shape 6"/>
          <p:cNvSpPr/>
          <p:nvPr/>
        </p:nvSpPr>
        <p:spPr>
          <a:xfrm>
            <a:off x="7955280" y="1371600"/>
            <a:ext cx="3291840" cy="2743200"/>
          </a:xfrm>
          <a:prstGeom prst="ellipse">
            <a:avLst/>
          </a:prstGeom>
          <a:solidFill>
            <a:srgbClr val="E8F0F8"/>
          </a:solidFill>
          <a:ln w="25400">
            <a:solidFill>
              <a:srgbClr val="3A6EA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" name="Text 7"/>
          <p:cNvSpPr/>
          <p:nvPr/>
        </p:nvSpPr>
        <p:spPr>
          <a:xfrm>
            <a:off x="9601200" y="1463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6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12480" y="2103120"/>
            <a:ext cx="2011680" cy="1463040"/>
          </a:xfrm>
          <a:prstGeom prst="ellipse">
            <a:avLst/>
          </a:prstGeom>
          <a:solidFill>
            <a:srgbClr val="C8D8E8"/>
          </a:solidFill>
          <a:ln w="254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8961120" y="2468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4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6400800" cy="2377440"/>
          </a:xfrm>
          <a:prstGeom prst="roundRect">
            <a:avLst>
              <a:gd name="adj" fmla="val 3846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9728" cy="2377440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1097280" y="35661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คำถามสำคัญ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40233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= NP  หรือ  P ⊂ NP ?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97280" y="457200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ยังไม่มีใครพิสูจน์ได้!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 P = NP: ทุกปัญหาที่ตรวจสอบได้เร็ว ก็แก้ได้เร็ว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 P ⊂ NP: มีปัญหาที่ตรวจสอบได้เร็วแต่แก้ไม่ได้เร็ว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Tractability: ปัญหาที่แก้ได้จริง vs แก้ไม่ได้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303520" cy="73152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Tractable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แก้ได้ใน Polynomial Time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(Reasonable Time)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3200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O(n²) — Bubble Sort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36576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O(n³) — Matrix Multiplication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4114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O(n log n) — Merge Sort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4572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O(V + E) — BFS/DFS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5029200" cy="4114800"/>
          </a:xfrm>
          <a:prstGeom prst="roundRect">
            <a:avLst>
              <a:gd name="adj" fmla="val 2667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5029200" cy="73152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/>
          <p:nvPr/>
        </p:nvSpPr>
        <p:spPr>
          <a:xfrm>
            <a:off x="6400800" y="13716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Intractable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0" y="22860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ไม่สามารถแก้ได้ใน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32004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O(2ⁿ) — Brute Force SAT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49440" y="36576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O(n!) — TSP (Brute Force)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49440" y="41148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O(nⁿ)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5669280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/>
          <p:nvPr/>
        </p:nvSpPr>
        <p:spPr>
          <a:xfrm>
            <a:off x="1005840" y="56692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ปัญหาทุกข้อใน Class P คือ Tractable แต่ปัญหาใน NP อาจเป็น Tractable หรือ Intractable ก็ได้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Polynomial Reduction (การลดรูปแบบพหุนาม)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698480" cy="2011680"/>
          </a:xfrm>
          <a:prstGeom prst="roundRect">
            <a:avLst>
              <a:gd name="adj" fmla="val 5455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9728" cy="2011680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นิยาม: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 D₁ reducible ไปเป็น D₂ (เขียน D₁ ≤ₚ D₂) ถ้ามีฟังก์ชัน f ที่: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เปลี่ยน Yes-instance ของ D₁ → Yes-instance ของ D₂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เปลี่ยน No-instance ของ D₁ → No-instance ของ D₂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 ทำงานใน Polynomial Time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365760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 D₁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(Input x)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3840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A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f  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 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65760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3A6EA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/>
          <p:nvPr/>
        </p:nvSpPr>
        <p:spPr>
          <a:xfrm>
            <a:off x="5486400" y="3657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 D₂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(Input f(x))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0" y="38404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778240" y="365760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E6A81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8778240" y="3657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8" name="Shape 16"/>
          <p:cNvSpPr/>
          <p:nvPr/>
        </p:nvSpPr>
        <p:spPr>
          <a:xfrm>
            <a:off x="731520" y="5212080"/>
            <a:ext cx="109728" cy="822960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/>
          <p:nvPr/>
        </p:nvSpPr>
        <p:spPr>
          <a:xfrm>
            <a:off x="1097280" y="5257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ความหมาย: "ถ้าแก้ D₂ ได้ ก็แก้ D₁ ได้" หรือ "D₂ ยากอย่างน้อยเท่า D₁"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NP-Complete: นิยาม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698480" cy="2560320"/>
          </a:xfrm>
          <a:prstGeom prst="roundRect">
            <a:avLst>
              <a:gd name="adj" fmla="val 4286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37160" cy="2560320"/>
          </a:xfrm>
          <a:prstGeom prst="rect">
            <a:avLst/>
          </a:prstGeom>
          <a:solidFill>
            <a:srgbClr val="E8740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1188720" y="12344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874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NPC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00400" y="1280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 Q เป็น NP-Complete ก็ต่อเมื่อ: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21031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03120" y="2103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อยู่ใน NP (ตรวจสอบคำตอบได้ใน Polynomial Time)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71600" y="28346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8740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137160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03120" y="2834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ทุกปัญหาใน NP สามารถ reduce มาเป็น Q ได้ใน Polynomial Time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914400" y="4114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ที่มาของชื่อ: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805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"NP-Complete" มาจาก: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Nondeterministic Polynomial + Complete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"Solve one, Solve them all"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40233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7" name="Shape 15"/>
          <p:cNvSpPr/>
          <p:nvPr/>
        </p:nvSpPr>
        <p:spPr>
          <a:xfrm>
            <a:off x="6400800" y="4023360"/>
            <a:ext cx="109728" cy="1371600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8" name="Text 16"/>
          <p:cNvSpPr/>
          <p:nvPr/>
        </p:nvSpPr>
        <p:spPr>
          <a:xfrm>
            <a:off x="66751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ความหมาย: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4480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เป็นปัญหาที่ "ยากที่สุด" ใน NP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ถ้าแก้ NP-Complete ข้อใดข้อหนึ่งได้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 poly time → แก้ได้ทั้งหมด!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NP-Hard: นิยาม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E8740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เนื้อหาใหม่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37160" cy="182880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C3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NP-Hard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 Q เป็น NP-Hard ก็ต่อเมื่อ: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ทุกปัญหาใน NP สามารถ reduce มาเป็น Q ได้ใน Polynomial Time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ข้อแตกต่างจาก NP-Complete: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38404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NP-Hard ไม่จำเป็นต้องอยู่ใน NP!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NP-Complete ต้อง: อยู่ใน NP + NP-Hard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NP-Hard: ยากอย่างน้อยเท่า NP-Complete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แต่อาจยากกว่า (ไม่อยู่ใน NP ด้วยซ้ำ)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329184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658368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ความสัมพันธ์: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6656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C4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NP-Complete = NP ∩ NP-Hard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66560" y="44805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 NP-Hard ที่ไม่ใช่ NP-Complete: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Halting Problem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(ไม่ใช่ decision problem ที่อยู่ใน NP)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TSP (Optimization version)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Euler Diagram: P, NP, NP-Complete, NP-Hard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 P ≠ NP (ที่เชื่อกันส่วนใหญ่)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4389120"/>
          </a:xfrm>
          <a:prstGeom prst="roundRect">
            <a:avLst>
              <a:gd name="adj" fmla="val 3125"/>
            </a:avLst>
          </a:prstGeom>
          <a:solidFill>
            <a:srgbClr val="FFF3E0"/>
          </a:solidFill>
          <a:ln w="254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411480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NP-Hard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4389120" cy="3474720"/>
          </a:xfrm>
          <a:prstGeom prst="ellipse">
            <a:avLst/>
          </a:prstGeom>
          <a:solidFill>
            <a:srgbClr val="E8F0F8"/>
          </a:solidFill>
          <a:ln w="25400">
            <a:solidFill>
              <a:srgbClr val="3A6EA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3474720" y="2377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743200"/>
            <a:ext cx="3200400" cy="1645920"/>
          </a:xfrm>
          <a:prstGeom prst="ellipse">
            <a:avLst/>
          </a:prstGeom>
          <a:solidFill>
            <a:srgbClr val="FFCC80"/>
          </a:solidFill>
          <a:ln w="25400">
            <a:solidFill>
              <a:srgbClr val="E8740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" name="Text 7"/>
          <p:cNvSpPr/>
          <p:nvPr/>
        </p:nvSpPr>
        <p:spPr>
          <a:xfrm>
            <a:off x="164592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NP-Complete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NP ∩ NP-Hard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88720" y="4114800"/>
            <a:ext cx="2011680" cy="1280160"/>
          </a:xfrm>
          <a:prstGeom prst="ellipse">
            <a:avLst/>
          </a:prstGeom>
          <a:solidFill>
            <a:srgbClr val="C8D8E8"/>
          </a:solidFill>
          <a:ln w="254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1737360" y="4389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4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 P = NP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5303520" cy="4389120"/>
          </a:xfrm>
          <a:prstGeom prst="roundRect">
            <a:avLst>
              <a:gd name="adj" fmla="val 3125"/>
            </a:avLst>
          </a:prstGeom>
          <a:solidFill>
            <a:srgbClr val="FFF3E0"/>
          </a:solidFill>
          <a:ln w="254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987552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NP-Hard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0" y="2743200"/>
            <a:ext cx="4114800" cy="2560320"/>
          </a:xfrm>
          <a:prstGeom prst="ellipse">
            <a:avLst/>
          </a:prstGeom>
          <a:solidFill>
            <a:srgbClr val="B3E5FC"/>
          </a:solidFill>
          <a:ln w="254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" name="Text 15"/>
          <p:cNvSpPr/>
          <p:nvPr/>
        </p:nvSpPr>
        <p:spPr>
          <a:xfrm>
            <a:off x="7498080" y="3291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NP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NP-Complete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Cook-Levin Theorem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E8740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เนื้อหาใหม่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1645920"/>
          </a:xfrm>
          <a:prstGeom prst="roundRect">
            <a:avLst>
              <a:gd name="adj" fmla="val 6667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37160" cy="1645920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(Cook-Levin, 1971):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 เป็นปัญหา NP-Complete ปัญหาแรกที่ถูกพิสูจน์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1945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ทุกปัญหาใน NP สามารถ reduce ไปเป็น SAT ได้ใน Polynomial Time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ไทม์ไลน์สำคัญ: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3931920"/>
            <a:ext cx="320040" cy="320040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Shape 9"/>
          <p:cNvSpPr/>
          <p:nvPr/>
        </p:nvSpPr>
        <p:spPr>
          <a:xfrm>
            <a:off x="1234440" y="4251960"/>
            <a:ext cx="36576" cy="502920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1645920" y="3840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4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Stephen Cook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4114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พิสูจน์ว่า SAT เป็น NP-Complete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4754880"/>
            <a:ext cx="320040" cy="32004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Shape 14"/>
          <p:cNvSpPr/>
          <p:nvPr/>
        </p:nvSpPr>
        <p:spPr>
          <a:xfrm>
            <a:off x="1234440" y="5074920"/>
            <a:ext cx="36576" cy="502920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7" name="Text 15"/>
          <p:cNvSpPr/>
          <p:nvPr/>
        </p:nvSpPr>
        <p:spPr>
          <a:xfrm>
            <a:off x="1645920" y="4663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6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43200" y="4617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Karp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0" y="4937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พิสูจน์ปัญหา NP-Complete อีก 21 ปัญหา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(Karp's 21 NP-Complete Problems)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97280" y="5577840"/>
            <a:ext cx="320040" cy="32004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/>
          <p:nvPr/>
        </p:nvSpPr>
        <p:spPr>
          <a:xfrm>
            <a:off x="1645920" y="5486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A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743200" y="5440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Leonid Levin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43200" y="5760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พิสูจน์ผลเดียวกับ Cook อย่างอิสระ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(ในสหภาพโซเวียต)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310896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" name="Text 23"/>
          <p:cNvSpPr/>
          <p:nvPr/>
        </p:nvSpPr>
        <p:spPr>
          <a:xfrm>
            <a:off x="6583680" y="31546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ความสำคัญ: เป็นจุดเริ่มต้นของทฤษฎี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NP-Completeness ทั้งหมด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 &amp; CNF อธิบายละเอียด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9728" cy="1371600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CNF (Conjunctive Normal Form):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กลุ่มของ Clause เชื่อมด้วย ∧ (AND), ภายใน Clause เชื่อมด้วย ∨ (OR)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 x ∧ (x ∨ y ∨ z̄) ∧ (x̄ ∨ ȳ)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คำศัพท์สำคัญ: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00400"/>
          <a:ext cx="10698480" cy="2148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คำศัพท์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ความหมาย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ตัวอย่าง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ตัวแปรหรือ negation ของตัวแปร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x, x̄, y, 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กลุ่ม literal เชื่อมด้วย 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 ∨ y ∨ z̄)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Satisfying Assignment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ค่าตัวแปรที่ทำให้สูตรเป็น 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x=T, y=F, z=F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/ Witness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หลักฐาน (คำตอบ) สำหรับตรวจสอบ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ชุดค่าตัวแปรที่ satisfying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1520" y="5486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0" name="Text 7"/>
          <p:cNvSpPr/>
          <p:nvPr/>
        </p:nvSpPr>
        <p:spPr>
          <a:xfrm>
            <a:off x="1005840" y="55321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ตัวอย่างตรวจสอบ: x=T, y=T, z=F → Clause 1: T ✓ | Clause 2: T∨T∨T = T ✓ | Clause 3: F∨F = F ✗  →  ลอง x=T, y=F, z=F → ทุก clause เป็น True ✓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2-SAT vs 3-SAT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303520" cy="73152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2-SAT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 clause มี ≤ 2 literals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560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4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(x₁ ∨ x₂) ∧ (¬x₁ ∨ x₃) ∧ (¬x₂ ∨ ¬x₃)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O(n) — อยู่ใน 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แก้ได้อย่างมีประสิทธิภาพ!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18872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Shape 10"/>
          <p:cNvSpPr/>
          <p:nvPr/>
        </p:nvSpPr>
        <p:spPr>
          <a:xfrm>
            <a:off x="6400800" y="1188720"/>
            <a:ext cx="5029200" cy="73152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/>
          <p:nvPr/>
        </p:nvSpPr>
        <p:spPr>
          <a:xfrm>
            <a:off x="6400800" y="11887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3-SAT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6656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 clause มี exactly 3 literals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 (ถูกต้อง):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2880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4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(x₁ ∨ ¬x₂ ∨ x₃) ∧ (¬x₁ ∨ x₂ ∨ x₃)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4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∧ (¬x₂ ∨ ¬x₃ ∨ x₁)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6656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NP-Complete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6656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ไม่มีใครรู้วิธีแก้เร็วได้!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512064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" name="Shape 18"/>
          <p:cNvSpPr/>
          <p:nvPr/>
        </p:nvSpPr>
        <p:spPr>
          <a:xfrm>
            <a:off x="731520" y="5120640"/>
            <a:ext cx="109728" cy="914400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/>
          <p:nvPr/>
        </p:nvSpPr>
        <p:spPr>
          <a:xfrm>
            <a:off x="1097280" y="51663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ข้อสังเกต: แค่เพิ่ม literal 1 ตัว (จาก 2 → 3 ต่อ clause) ความยากเปลี่ยนจาก P → NP-Complete!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วิธีพิสูจน์ว่าปัญหาเป็น NP-Complete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822960" cy="822960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28800" y="1371600"/>
            <a:ext cx="9601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210312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แสดงว่าปัญหาอยู่ใน NP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03120" y="18288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ตรวจสอบคำตอบได้ใน polynomial time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(ถ้ามีคนบอกคำตอบ เราเช็คได้เร็ว)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822960" cy="82296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1828800" y="2834640"/>
            <a:ext cx="9601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210312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เลือกปัญหา NP-Complete ที่รู้จักอยู่แล้ว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03120" y="32918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เช่น 3-SAT, CLIQUE, VERTEX COVER,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HAMPATH หรือปัญหา NPC อื่นก็ได้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822960" cy="82296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1828800" y="4297680"/>
            <a:ext cx="9601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8" name="Text 16"/>
          <p:cNvSpPr/>
          <p:nvPr/>
        </p:nvSpPr>
        <p:spPr>
          <a:xfrm>
            <a:off x="2103120" y="4343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 Polynomial Time Reduction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03120" y="47548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จากปัญหาที่รู้จัก → ปัญหาใหม่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(Known NPC ≤ₚ New Problem)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502920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" name="Shape 19"/>
          <p:cNvSpPr/>
          <p:nvPr/>
        </p:nvSpPr>
        <p:spPr>
          <a:xfrm>
            <a:off x="1188720" y="521208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1188720" y="5212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NPC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52120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A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≤ₚ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669280" y="521208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E8740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" name="Text 23"/>
          <p:cNvSpPr/>
          <p:nvPr/>
        </p:nvSpPr>
        <p:spPr>
          <a:xfrm>
            <a:off x="5669280" y="5212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Problem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0" y="5120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New Problem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is NP-Complete!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ตัวอย่าง: CLIQUE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9728" cy="2286000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4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CLIQUE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= { ⟨G, k⟩ | G มี clique ขนาด k 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= subset ของ vertices ที่เชื่อมต่อ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กันทุกคู่ (complete subgraph)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อยู่ใน NP: ให้ subset มา →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ตรวจสอบว่าทุกคู่มี edge → O(k²)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0" y="1188720"/>
            <a:ext cx="484632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676656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กราฟตัวอย่าง (k=3)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2011680"/>
            <a:ext cx="1371600" cy="0"/>
          </a:xfrm>
          <a:prstGeom prst="line">
            <a:avLst/>
          </a:prstGeom>
          <a:noFill/>
          <a:ln w="381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 8"/>
          <p:cNvSpPr/>
          <p:nvPr/>
        </p:nvSpPr>
        <p:spPr>
          <a:xfrm>
            <a:off x="7772400" y="2011680"/>
            <a:ext cx="0" cy="118872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 9"/>
          <p:cNvSpPr/>
          <p:nvPr/>
        </p:nvSpPr>
        <p:spPr>
          <a:xfrm>
            <a:off x="9144000" y="1828800"/>
            <a:ext cx="1188720" cy="731520"/>
          </a:xfrm>
          <a:prstGeom prst="line">
            <a:avLst/>
          </a:prstGeom>
          <a:noFill/>
          <a:ln w="381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 10"/>
          <p:cNvSpPr/>
          <p:nvPr/>
        </p:nvSpPr>
        <p:spPr>
          <a:xfrm>
            <a:off x="9144000" y="1828800"/>
            <a:ext cx="0" cy="201168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 11"/>
          <p:cNvSpPr/>
          <p:nvPr/>
        </p:nvSpPr>
        <p:spPr>
          <a:xfrm>
            <a:off x="10332720" y="2560320"/>
            <a:ext cx="0" cy="109728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 12"/>
          <p:cNvSpPr/>
          <p:nvPr/>
        </p:nvSpPr>
        <p:spPr>
          <a:xfrm>
            <a:off x="7498080" y="3200400"/>
            <a:ext cx="1188720" cy="64008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 13"/>
          <p:cNvSpPr/>
          <p:nvPr/>
        </p:nvSpPr>
        <p:spPr>
          <a:xfrm>
            <a:off x="8686800" y="3840480"/>
            <a:ext cx="13716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 14"/>
          <p:cNvSpPr/>
          <p:nvPr/>
        </p:nvSpPr>
        <p:spPr>
          <a:xfrm>
            <a:off x="7772400" y="2011680"/>
            <a:ext cx="2560320" cy="548640"/>
          </a:xfrm>
          <a:prstGeom prst="line">
            <a:avLst/>
          </a:prstGeom>
          <a:noFill/>
          <a:ln w="381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 15"/>
          <p:cNvSpPr/>
          <p:nvPr/>
        </p:nvSpPr>
        <p:spPr>
          <a:xfrm>
            <a:off x="7571232" y="1810512"/>
            <a:ext cx="402336" cy="402336"/>
          </a:xfrm>
          <a:prstGeom prst="ellipse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8" name="Text 16"/>
          <p:cNvSpPr/>
          <p:nvPr/>
        </p:nvSpPr>
        <p:spPr>
          <a:xfrm>
            <a:off x="7571232" y="1810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42832" y="1627632"/>
            <a:ext cx="402336" cy="402336"/>
          </a:xfrm>
          <a:prstGeom prst="ellipse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" name="Text 18"/>
          <p:cNvSpPr/>
          <p:nvPr/>
        </p:nvSpPr>
        <p:spPr>
          <a:xfrm>
            <a:off x="8942832" y="16276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131552" y="2359152"/>
            <a:ext cx="402336" cy="402336"/>
          </a:xfrm>
          <a:prstGeom prst="ellipse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10131552" y="2359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96912" y="2999232"/>
            <a:ext cx="402336" cy="402336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" name="Text 22"/>
          <p:cNvSpPr/>
          <p:nvPr/>
        </p:nvSpPr>
        <p:spPr>
          <a:xfrm>
            <a:off x="7296912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85632" y="3639312"/>
            <a:ext cx="402336" cy="402336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" name="Text 24"/>
          <p:cNvSpPr/>
          <p:nvPr/>
        </p:nvSpPr>
        <p:spPr>
          <a:xfrm>
            <a:off x="8485632" y="36393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857232" y="3456432"/>
            <a:ext cx="402336" cy="402336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8" name="Text 26"/>
          <p:cNvSpPr/>
          <p:nvPr/>
        </p:nvSpPr>
        <p:spPr>
          <a:xfrm>
            <a:off x="9857232" y="3456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3-Clique: {1, 2, 3}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" y="38404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1" name="Text 29"/>
          <p:cNvSpPr/>
          <p:nvPr/>
        </p:nvSpPr>
        <p:spPr>
          <a:xfrm>
            <a:off x="914400" y="3931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เป็น NP-Complete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97280" y="43891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ตรวจสอบได้ใน poly time → อยู่ใน NP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3-SAT ≤ₚ CLIQUE (reduce ได้)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จึงเป็น NP-Complete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Reduction: 3-SAT → CLIQUE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ขั้นตอนการ reduce: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6459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 instance ของ 3-SAT ที่มี k clauses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11480" cy="411480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2402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vertex สำหรับ literal แต่ละตัวในแต่ละ clause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880360"/>
            <a:ext cx="411480" cy="411480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8346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เชื่อม edge ระหว่าง vertex ที่: อยู่คนละ clause AND ไม่ใช่ negation ของกัน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3474720"/>
            <a:ext cx="411480" cy="41148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4290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k-clique ในกราฟนี้ ↔ satisfying assignment ของ 3-SAT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10698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7" name="Text 15"/>
          <p:cNvSpPr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4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ตัวอย่าง: φ = (x₁ ∨ ¬x₂ ∨ x₃) ∧ (¬x₁ ∨ x₂ ∨ x₃)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1: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86000" y="4617720"/>
            <a:ext cx="548640" cy="457200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" name="Text 18"/>
          <p:cNvSpPr/>
          <p:nvPr/>
        </p:nvSpPr>
        <p:spPr>
          <a:xfrm>
            <a:off x="2194560" y="4617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4617720"/>
            <a:ext cx="548640" cy="457200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3291840" y="4617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¬x₂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4617720"/>
            <a:ext cx="548640" cy="457200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" name="Text 22"/>
          <p:cNvSpPr/>
          <p:nvPr/>
        </p:nvSpPr>
        <p:spPr>
          <a:xfrm>
            <a:off x="4389120" y="4617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5303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2: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286000" y="5257800"/>
            <a:ext cx="548640" cy="45720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7" name="Text 25"/>
          <p:cNvSpPr/>
          <p:nvPr/>
        </p:nvSpPr>
        <p:spPr>
          <a:xfrm>
            <a:off x="2194560" y="5257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¬x₁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83280" y="5257800"/>
            <a:ext cx="548640" cy="45720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9" name="Text 27"/>
          <p:cNvSpPr/>
          <p:nvPr/>
        </p:nvSpPr>
        <p:spPr>
          <a:xfrm>
            <a:off x="3291840" y="5257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80560" y="5257800"/>
            <a:ext cx="548640" cy="45720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1" name="Text 29"/>
          <p:cNvSpPr/>
          <p:nvPr/>
        </p:nvSpPr>
        <p:spPr>
          <a:xfrm>
            <a:off x="4389120" y="5257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0" y="4846320"/>
            <a:ext cx="0" cy="41148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 31"/>
          <p:cNvSpPr/>
          <p:nvPr/>
        </p:nvSpPr>
        <p:spPr>
          <a:xfrm>
            <a:off x="4754880" y="4846320"/>
            <a:ext cx="0" cy="411480"/>
          </a:xfrm>
          <a:prstGeom prst="line">
            <a:avLst/>
          </a:prstGeom>
          <a:noFill/>
          <a:ln w="3175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4" name="Shape 32"/>
          <p:cNvSpPr/>
          <p:nvPr/>
        </p:nvSpPr>
        <p:spPr>
          <a:xfrm>
            <a:off x="2560320" y="4846320"/>
            <a:ext cx="1097280" cy="41148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5" name="Shape 33"/>
          <p:cNvSpPr/>
          <p:nvPr/>
        </p:nvSpPr>
        <p:spPr>
          <a:xfrm>
            <a:off x="2560320" y="4846320"/>
            <a:ext cx="2194560" cy="41148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6" name="Text 34"/>
          <p:cNvSpPr/>
          <p:nvPr/>
        </p:nvSpPr>
        <p:spPr>
          <a:xfrm>
            <a:off x="6400800" y="4572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เส้นทองคือ edge ใน 2-clique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ที่สอดคล้องกับ satisfying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x₃=T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ตัวอย่าง: INDEPENDENT 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9728" cy="2011680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4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SET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INDEP-SET = { ⟨G, k⟩ | G มี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set ขนาด k }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Set = vertices ที่ไม่มี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เชื่อมกันเลย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Shape 6"/>
          <p:cNvSpPr/>
          <p:nvPr/>
        </p:nvSpPr>
        <p:spPr>
          <a:xfrm>
            <a:off x="731520" y="3474720"/>
            <a:ext cx="109728" cy="2286000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9" name="Text 7"/>
          <p:cNvSpPr/>
          <p:nvPr/>
        </p:nvSpPr>
        <p:spPr>
          <a:xfrm>
            <a:off x="1097280" y="3566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ความสัมพันธ์กับ CLIQUE: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402336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 complement/dual problem!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มี independent set ขนาด 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complement graph Ḡ มี clique ขนาด k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CLIQUE ≤ₚ INDEPENDENT SET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INDEPENDENT SET เป็น NP-Complete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1188720"/>
            <a:ext cx="48463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6766560" y="1234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0" y="2103120"/>
            <a:ext cx="13716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 12"/>
          <p:cNvSpPr/>
          <p:nvPr/>
        </p:nvSpPr>
        <p:spPr>
          <a:xfrm>
            <a:off x="9144000" y="1828800"/>
            <a:ext cx="1188720" cy="45720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 13"/>
          <p:cNvSpPr/>
          <p:nvPr/>
        </p:nvSpPr>
        <p:spPr>
          <a:xfrm>
            <a:off x="7772400" y="2103120"/>
            <a:ext cx="0" cy="109728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 14"/>
          <p:cNvSpPr/>
          <p:nvPr/>
        </p:nvSpPr>
        <p:spPr>
          <a:xfrm>
            <a:off x="10332720" y="2286000"/>
            <a:ext cx="0" cy="91440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 15"/>
          <p:cNvSpPr/>
          <p:nvPr/>
        </p:nvSpPr>
        <p:spPr>
          <a:xfrm>
            <a:off x="7589520" y="3200400"/>
            <a:ext cx="1371600" cy="27432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 16"/>
          <p:cNvSpPr/>
          <p:nvPr/>
        </p:nvSpPr>
        <p:spPr>
          <a:xfrm>
            <a:off x="8961120" y="3474720"/>
            <a:ext cx="109728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 17"/>
          <p:cNvSpPr/>
          <p:nvPr/>
        </p:nvSpPr>
        <p:spPr>
          <a:xfrm>
            <a:off x="9144000" y="1828800"/>
            <a:ext cx="0" cy="137160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0" name="Shape 18"/>
          <p:cNvSpPr/>
          <p:nvPr/>
        </p:nvSpPr>
        <p:spPr>
          <a:xfrm>
            <a:off x="7571232" y="1901952"/>
            <a:ext cx="402336" cy="402336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/>
          <p:nvPr/>
        </p:nvSpPr>
        <p:spPr>
          <a:xfrm>
            <a:off x="7571232" y="1901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42832" y="1627632"/>
            <a:ext cx="402336" cy="402336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" name="Text 21"/>
          <p:cNvSpPr/>
          <p:nvPr/>
        </p:nvSpPr>
        <p:spPr>
          <a:xfrm>
            <a:off x="8942832" y="16276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131552" y="2084832"/>
            <a:ext cx="402336" cy="402336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" name="Text 23"/>
          <p:cNvSpPr/>
          <p:nvPr/>
        </p:nvSpPr>
        <p:spPr>
          <a:xfrm>
            <a:off x="10131552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88352" y="2999232"/>
            <a:ext cx="402336" cy="402336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7" name="Text 25"/>
          <p:cNvSpPr/>
          <p:nvPr/>
        </p:nvSpPr>
        <p:spPr>
          <a:xfrm>
            <a:off x="7388352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759952" y="3273552"/>
            <a:ext cx="402336" cy="402336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9" name="Text 27"/>
          <p:cNvSpPr/>
          <p:nvPr/>
        </p:nvSpPr>
        <p:spPr>
          <a:xfrm>
            <a:off x="8759952" y="3273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857232" y="2999232"/>
            <a:ext cx="402336" cy="402336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1" name="Text 29"/>
          <p:cNvSpPr/>
          <p:nvPr/>
        </p:nvSpPr>
        <p:spPr>
          <a:xfrm>
            <a:off x="9857232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3232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Set (k=3): {A, C, E}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edge เชื่อม A-C, A-E, หรือ C-E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ตัวอย่าง: HAMILTONIAN PATH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9728" cy="1828800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4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HAMPATH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HAMPATH = { ⟨G, a, b⟩ | G มี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 path จาก a ไป b 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 Path = เส้นทางที่ผ่านทุก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ครั้งละ 1 ครั้ง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0" y="1188720"/>
            <a:ext cx="48463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676656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มี HAMPATH จาก A→F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0" y="2011680"/>
            <a:ext cx="118872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 8"/>
          <p:cNvSpPr/>
          <p:nvPr/>
        </p:nvSpPr>
        <p:spPr>
          <a:xfrm>
            <a:off x="8686800" y="1828800"/>
            <a:ext cx="1188720" cy="18288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 9"/>
          <p:cNvSpPr/>
          <p:nvPr/>
        </p:nvSpPr>
        <p:spPr>
          <a:xfrm>
            <a:off x="7498080" y="2011680"/>
            <a:ext cx="0" cy="91440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 10"/>
          <p:cNvSpPr/>
          <p:nvPr/>
        </p:nvSpPr>
        <p:spPr>
          <a:xfrm>
            <a:off x="8686800" y="1828800"/>
            <a:ext cx="0" cy="128016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 11"/>
          <p:cNvSpPr/>
          <p:nvPr/>
        </p:nvSpPr>
        <p:spPr>
          <a:xfrm>
            <a:off x="9875520" y="2011680"/>
            <a:ext cx="0" cy="91440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 12"/>
          <p:cNvSpPr/>
          <p:nvPr/>
        </p:nvSpPr>
        <p:spPr>
          <a:xfrm>
            <a:off x="7498080" y="2926080"/>
            <a:ext cx="1188720" cy="18288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 13"/>
          <p:cNvSpPr/>
          <p:nvPr/>
        </p:nvSpPr>
        <p:spPr>
          <a:xfrm>
            <a:off x="8686800" y="3108960"/>
            <a:ext cx="118872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 14"/>
          <p:cNvSpPr/>
          <p:nvPr/>
        </p:nvSpPr>
        <p:spPr>
          <a:xfrm>
            <a:off x="7498080" y="2011680"/>
            <a:ext cx="1188720" cy="109728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 15"/>
          <p:cNvSpPr/>
          <p:nvPr/>
        </p:nvSpPr>
        <p:spPr>
          <a:xfrm>
            <a:off x="8686800" y="1828800"/>
            <a:ext cx="0" cy="109728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 16"/>
          <p:cNvSpPr/>
          <p:nvPr/>
        </p:nvSpPr>
        <p:spPr>
          <a:xfrm>
            <a:off x="7498080" y="2011680"/>
            <a:ext cx="1188720" cy="0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 17"/>
          <p:cNvSpPr/>
          <p:nvPr/>
        </p:nvSpPr>
        <p:spPr>
          <a:xfrm>
            <a:off x="8686800" y="1828800"/>
            <a:ext cx="1188720" cy="182880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0" name="Shape 18"/>
          <p:cNvSpPr/>
          <p:nvPr/>
        </p:nvSpPr>
        <p:spPr>
          <a:xfrm>
            <a:off x="9875520" y="2011680"/>
            <a:ext cx="0" cy="914400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 19"/>
          <p:cNvSpPr/>
          <p:nvPr/>
        </p:nvSpPr>
        <p:spPr>
          <a:xfrm>
            <a:off x="9875520" y="2926080"/>
            <a:ext cx="0" cy="182880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Shape 20"/>
          <p:cNvSpPr/>
          <p:nvPr/>
        </p:nvSpPr>
        <p:spPr>
          <a:xfrm>
            <a:off x="8686800" y="3108960"/>
            <a:ext cx="0" cy="0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3" name="Shape 21"/>
          <p:cNvSpPr/>
          <p:nvPr/>
        </p:nvSpPr>
        <p:spPr>
          <a:xfrm>
            <a:off x="7296912" y="1810512"/>
            <a:ext cx="402336" cy="402336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" name="Text 22"/>
          <p:cNvSpPr/>
          <p:nvPr/>
        </p:nvSpPr>
        <p:spPr>
          <a:xfrm>
            <a:off x="7296912" y="1810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85632" y="1627632"/>
            <a:ext cx="402336" cy="402336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" name="Text 24"/>
          <p:cNvSpPr/>
          <p:nvPr/>
        </p:nvSpPr>
        <p:spPr>
          <a:xfrm>
            <a:off x="8485632" y="16276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74352" y="1810512"/>
            <a:ext cx="402336" cy="402336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8" name="Text 26"/>
          <p:cNvSpPr/>
          <p:nvPr/>
        </p:nvSpPr>
        <p:spPr>
          <a:xfrm>
            <a:off x="9674352" y="1810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296912" y="2724912"/>
            <a:ext cx="402336" cy="402336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0" name="Text 28"/>
          <p:cNvSpPr/>
          <p:nvPr/>
        </p:nvSpPr>
        <p:spPr>
          <a:xfrm>
            <a:off x="7296912" y="2724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485632" y="2907792"/>
            <a:ext cx="402336" cy="402336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2" name="Text 30"/>
          <p:cNvSpPr/>
          <p:nvPr/>
        </p:nvSpPr>
        <p:spPr>
          <a:xfrm>
            <a:off x="8485632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674352" y="2724912"/>
            <a:ext cx="402336" cy="402336"/>
          </a:xfrm>
          <a:prstGeom prst="ellipse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4" name="Text 32"/>
          <p:cNvSpPr/>
          <p:nvPr/>
        </p:nvSpPr>
        <p:spPr>
          <a:xfrm>
            <a:off x="9674352" y="2724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6656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HAMPATH: A → B → C → F → E → D  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" y="329184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7" name="Text 35"/>
          <p:cNvSpPr/>
          <p:nvPr/>
        </p:nvSpPr>
        <p:spPr>
          <a:xfrm>
            <a:off x="914400" y="3383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HAMPATH เป็น NP-Complete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97280" y="38404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ตรวจสอบ: ให้ path มา เช็คว่าผ่านทุก node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และแต่ละ edge มีจริง → O(V)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หาคำตอบ: ต้องลองทุก permutation → O(n!)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3-SAT ≤ₚ HAMPATH (reduce ได้)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31520" y="5669280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0" name="Text 38"/>
          <p:cNvSpPr/>
          <p:nvPr/>
        </p:nvSpPr>
        <p:spPr>
          <a:xfrm>
            <a:off x="1005840" y="56692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สังเกต: ไม่มี HAMPATH จาก C→E ในกราฟเดียวกัน — การเปลี่ยนจุดเริ่มต้น/สิ้นสุดอาจทำให้คำตอบเปลี่ยน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HAMILTONIAN PATH ≠ TSP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E8740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เนื้อหาใหม่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303520" cy="731520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 Path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ประเภท: Decision 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คำถาม: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"มี path ที่ผ่านทุก node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ครั้งเดียวหรือไม่?"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คำตอบ: Yes / No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411480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1371600" y="4114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NP-Complete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1280160"/>
            <a:ext cx="50292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3" name="Shape 11"/>
          <p:cNvSpPr/>
          <p:nvPr/>
        </p:nvSpPr>
        <p:spPr>
          <a:xfrm>
            <a:off x="6400800" y="1280160"/>
            <a:ext cx="5029200" cy="73152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6400800" y="12801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 (Traveling Salesman)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6656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ประเภท: Optimization Problem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66560" y="26517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คำถาม: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"หา route ที่สั้นที่สุดที่ผ่าน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ทุกเมืองแล้วกลับจุดเริ่มต้น"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6656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คำตอบ: เส้นทาง + ระยะทาง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040880" y="411480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/>
          <p:nvPr/>
        </p:nvSpPr>
        <p:spPr>
          <a:xfrm>
            <a:off x="7040880" y="4114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NP-Hard (ไม่ใช่ NP-Complete)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557784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ความเกี่ยวข้อง: TSP เป็น generalization ของ Hamiltonian Cycle แต่ไม่ใช่ปัญหาเดียวกัน — TSP เป็น optimization จึงเป็น NP-Hard (ไม่อยู่ใน NP)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รวมปัญหา NP-Complete ที่สำคัญ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69848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ปัญหา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คำอธิบาย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ประเภท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 / 3-SAT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Satisfiability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หา complete subgraph ขนาด 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หา vertices ที่ไม่เชื่อมกัน ขนาด 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 COVER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หา vertices ที่ครอบคลุมทุก 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HAMILTONIAN PATH/CYCLE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เส้นทางผ่านทุก node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COLORING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ระบายสีกราฟด้วยสีน้อยที่สุด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SUBSET-SUM / PARTITION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ปัญหาการแบ่งกลุ่มตัวเลข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MINESWEEPER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เกมกู้ระเบิด (generalized version)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539496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2"/>
          <p:cNvSpPr/>
          <p:nvPr/>
        </p:nvSpPr>
        <p:spPr>
          <a:xfrm>
            <a:off x="1005840" y="54406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ปัญหาเหล่านี้ "เท่ากัน" ในแง่ความยาก — ถ้าแก้ข้อใดข้อหนึ่งได้ใน polynomial time ก็แก้ได้ทั้งหมด (P = NP)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vs NP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คำถามล้านดอลลาร์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0D1B2A"/>
          </a:solidFill>
          <a:ln w="254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Millennium Prize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หนึ่งใน 7 Millennium Prize Problems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 Clay Mathematics Institute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รางวัล: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A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$1,000,000 USD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ยังไม่มีใครพิสูจน์ได้!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103120"/>
            <a:ext cx="5029200" cy="1645920"/>
          </a:xfrm>
          <a:prstGeom prst="roundRect">
            <a:avLst>
              <a:gd name="adj" fmla="val 5556"/>
            </a:avLst>
          </a:prstGeom>
          <a:solidFill>
            <a:srgbClr val="0D1B2A"/>
          </a:solidFill>
          <a:ln w="1905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65836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 P = NP: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ทุกปัญหาที่ตรวจสอบได้เร็ว ก็แก้ได้เร็ว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ปฏิวัติวงการ cryptography, AI, optimization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ระบบเข้ารหัสปัจจุบันจะไม่ปลอดภัย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4023360"/>
            <a:ext cx="5029200" cy="1645920"/>
          </a:xfrm>
          <a:prstGeom prst="roundRect">
            <a:avLst>
              <a:gd name="adj" fmla="val 5556"/>
            </a:avLst>
          </a:prstGeom>
          <a:solidFill>
            <a:srgbClr val="0D1B2A"/>
          </a:solidFill>
          <a:ln w="1905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658368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 P ≠ NP (ที่เชื่อกัน):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66560" y="45262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มีปัญหาที่ตรวจสอบได้เร็วแต่แก้ไม่ได้เร็ว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NP-Complete ไม่มีวิธีแก้ที่เร็ว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ต้องใช้ approximation / heuristic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7" name="Text 15"/>
          <p:cNvSpPr/>
          <p:nvPr/>
        </p:nvSpPr>
        <p:spPr>
          <a:xfrm>
            <a:off x="914400" y="48920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"If P = NP, then the world would be a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profoundly different place than we usually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assume it to be."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577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Scott Aaronson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สรุป: Take Home Message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13258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NP-Complete คือปัญหาที่ยากที่สุดใน NP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45920" y="178308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ทุกปัญหาใน NP reduce มาเป็น NPC ได้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67712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45920" y="231343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ต้องทำงานใน Polynomial Time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45920" y="2770632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ใช้ฟังก์ชัน f ที่แปลง instance ใน poly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255264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914400" y="33467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45920" y="3300984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การทำ Reduction ยากและต้องฝึกฝน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45920" y="3758184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NPC ที่รู้จัก → แสดง reduction → ปัญหาใหม่เป็น NPC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242816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914400" y="43342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45920" y="4288536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เริ่มต้นจาก instance ของ NP-Complete ที่รู้จักอยู่แล้ว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4745736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เช่น 3-SAT, CLIQUE, VERTEX COVER, HAMPATH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230368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FFF8E1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0" name="Text 18"/>
          <p:cNvSpPr/>
          <p:nvPr/>
        </p:nvSpPr>
        <p:spPr>
          <a:xfrm>
            <a:off x="914400" y="53218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645920" y="527608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"Solve one NP-Complete problem in polynomial time = Solve them ALL"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45920" y="5733288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นี่คือ key insight ที่สำคัญที่สุดของบทเรียนนี้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 — Week 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อ่านเพิ่มเติม &amp; อ้างอิง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Textbook: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920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Design &amp; Analysis of Algorithms, 3rd Ed.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Anany Levitin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Lecture Notes: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3200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Princeton University NP-completeness Lecture Notes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Ohio State University P/NP Problems Notes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Fun Papers: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448056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"March Madness is (NP-)Hard"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84632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"Some Minesweeper Configurations"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52120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"Pancakes, Puzzles, and Polynomials"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55778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"Knuth's Complexity of Songs"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457200" y="6172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ผศ.พงศกร สุธาพันธ์  |  ภาควิชาวิทยาการคอมพิวเตอร์และเทคโนโลยีสารสนเทศ  |  254383 Algorithm Design and Analysis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1266219-7289-4DAB-A2B0-EDA6CE4E2BF0}">
  <we:reference id="WA200010606" version="1.0.10036.0" store="en-us" storeType="OMEX"/>
  <we:alternateReferences/>
  <we:properties>
    <we:property name="Office.AutoShowTaskpaneWithDocument" value="true"/>
    <we:property name="conversationId" value="&quot;e5c94651-b6e2-4aa2-9b9f-0321aff7e1c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เอกสาร" ma:contentTypeID="0x010100D91FA6F5F896444680E76E2ECD0ACD5B" ma:contentTypeVersion="3" ma:contentTypeDescription="สร้างเอกสารใหม่" ma:contentTypeScope="" ma:versionID="b3cf3eaa95a2167ef77f0824c2f71dde">
  <xsd:schema xmlns:xsd="http://www.w3.org/2001/XMLSchema" xmlns:xs="http://www.w3.org/2001/XMLSchema" xmlns:p="http://schemas.microsoft.com/office/2006/metadata/properties" xmlns:ns2="6ce0f264-2230-4d02-9fb6-ecf4c377d146" targetNamespace="http://schemas.microsoft.com/office/2006/metadata/properties" ma:root="true" ma:fieldsID="75b9a05368b3c6cad232c4d3eef33cb7" ns2:_="">
    <xsd:import namespace="6ce0f264-2230-4d02-9fb6-ecf4c377d1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e0f264-2230-4d02-9fb6-ecf4c377d1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ชนิดเนื้อหา"/>
        <xsd:element ref="dc:title" minOccurs="0" maxOccurs="1" ma:index="4" ma:displayName="ชื่อเรื่อง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4FF44E3-A918-4DE7-B605-A70B6450FD94}"/>
</file>

<file path=customXml/itemProps2.xml><?xml version="1.0" encoding="utf-8"?>
<ds:datastoreItem xmlns:ds="http://schemas.openxmlformats.org/officeDocument/2006/customXml" ds:itemID="{A654247D-0452-4559-BEDD-2194AFBE9F9C}"/>
</file>

<file path=customXml/itemProps3.xml><?xml version="1.0" encoding="utf-8"?>
<ds:datastoreItem xmlns:ds="http://schemas.openxmlformats.org/officeDocument/2006/customXml" ds:itemID="{1C3741F3-565C-41D6-8462-E4057DFD58FC}"/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3377</Words>
  <Application>Microsoft Office PowerPoint</Application>
  <PresentationFormat>Custom</PresentationFormat>
  <Paragraphs>594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Phisetphong Suthaphan</cp:lastModifiedBy>
  <cp:revision>3</cp:revision>
  <dcterms:created xsi:type="dcterms:W3CDTF">2026-09-29T02:56:49Z</dcterms:created>
  <dcterms:modified xsi:type="dcterms:W3CDTF">2026-09-29T07:17:08Z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0x010100D91FA6F5F896444680E76E2ECD0ACD5B</vt:lpwstr>
  </property>
</Properties>
</file>